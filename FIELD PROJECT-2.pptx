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18"/>
  </p:notesMasterIdLst>
  <p:sldIdLst>
    <p:sldId id="269" r:id="rId5"/>
    <p:sldId id="270" r:id="rId6"/>
    <p:sldId id="271" r:id="rId7"/>
    <p:sldId id="272" r:id="rId8"/>
    <p:sldId id="261" r:id="rId9"/>
    <p:sldId id="260" r:id="rId10"/>
    <p:sldId id="263" r:id="rId11"/>
    <p:sldId id="262"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9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EB7BC-E7B7-4575-9112-6E1F8FFB069E}" type="datetimeFigureOut">
              <a:rPr lang="en-US" smtClean="0"/>
              <a:t>4/24/2026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563E5-3F3B-4F78-9C71-DC2608869805}" type="slidenum">
              <a:rPr lang="en-US" smtClean="0"/>
              <a:t>‹#›</a:t>
            </a:fld>
            <a:endParaRPr lang="en-US" dirty="0"/>
          </a:p>
        </p:txBody>
      </p:sp>
    </p:spTree>
    <p:extLst>
      <p:ext uri="{BB962C8B-B14F-4D97-AF65-F5344CB8AC3E}">
        <p14:creationId xmlns:p14="http://schemas.microsoft.com/office/powerpoint/2010/main" val="3303684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244793A9-7C6C-4D08-92F6-F1F92C238736}" type="datetime1">
              <a:rPr lang="en-US" smtClean="0"/>
              <a:t>4/24/2026</a:t>
            </a:fld>
            <a:endParaRPr lang="en-US" dirty="0"/>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FAEF9944-A4F6-4C59-AEBD-678D6480B8EA}" type="slidenum">
              <a:rPr lang="en-US" dirty="0"/>
              <a:pPr/>
              <a:t>‹#›</a:t>
            </a:fld>
            <a:endParaRPr lang="en-US" dirty="0"/>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782438-B4B8-4A3B-81C9-F825F3AAC376}" type="datetime1">
              <a:rPr lang="en-US" smtClean="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00E4997B-1FE4-47A8-9028-DEF54467F1A4}" type="datetime1">
              <a:rPr lang="en-US" smtClean="0"/>
              <a:t>4/24/2026</a:t>
            </a:fld>
            <a:endParaRPr lang="en-US" dirty="0"/>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dirty="0"/>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FAEF9944-A4F6-4C59-AEBD-678D6480B8EA}" type="slidenum">
              <a:rPr lang="en-US" dirty="0"/>
              <a:pPr/>
              <a:t>‹#›</a:t>
            </a:fld>
            <a:endParaRPr lang="en-US" dirty="0"/>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D33E2A4-FC2B-4C62-99D1-22A122804089}" type="datetime1">
              <a:rPr lang="en-US" smtClean="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178FDE-D23B-4B1F-9C84-7727D2CE25D7}" type="datetime1">
              <a:rPr lang="en-US" smtClean="0"/>
              <a:t>4/24/2026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1E6DC1-AD37-4838-9FEB-59E5E9793810}" type="datetime1">
              <a:rPr lang="en-US" smtClean="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1D4326B5-3923-4825-B39D-26824402D2D6}" type="datetime1">
              <a:rPr lang="en-US" smtClean="0"/>
              <a:t>4/24/2026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smtClean="0"/>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7F77A073-F441-4A2C-AEED-DA5AB371EE5F}" type="datetime1">
              <a:rPr lang="en-US" smtClean="0"/>
              <a:t>4/24/2026</a:t>
            </a:fld>
            <a:endParaRPr lang="en-US" dirty="0"/>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FAEF9944-A4F6-4C59-AEBD-678D6480B8EA}" type="slidenum">
              <a:rPr lang="en-US" dirty="0"/>
              <a:pPr/>
              <a:t>‹#›</a:t>
            </a:fld>
            <a:endParaRPr lang="en-US" dirty="0"/>
          </a:p>
        </p:txBody>
      </p:sp>
    </p:spTree>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D59920AA-4634-43CD-9C1A-EA35C3EB9627}" type="datetime1">
              <a:rPr lang="en-US" smtClean="0"/>
              <a:t>4/24/2026</a:t>
            </a:fld>
            <a:endParaRPr lang="en-US" dirty="0"/>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FAEF9944-A4F6-4C59-AEBD-678D6480B8EA}"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272F62-41D9-41B4-A742-F07D327A573D}" type="datetime1">
              <a:rPr lang="en-US" smtClean="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EF911B4-2B8A-4B9C-8112-6F5C986D46F7}" type="datetime1">
              <a:rPr lang="en-US" smtClean="0"/>
              <a:t>4/24/2026</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A5D330AF-CDB6-4B06-9433-B8653C157AA0}" type="datetime1">
              <a:rPr lang="en-US" smtClean="0"/>
              <a:t>4/24/2026</a:t>
            </a:fld>
            <a:endParaRPr lang="en-US" dirty="0"/>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FAEF9944-A4F6-4C59-AEBD-678D6480B8EA}" type="slidenum">
              <a:rPr lang="en-US" dirty="0"/>
              <a:pPr/>
              <a:t>‹#›</a:t>
            </a:fld>
            <a:endParaRPr lang="en-US" dirty="0"/>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21063" y="0"/>
            <a:ext cx="8770937" cy="2192338"/>
          </a:xfrm>
        </p:spPr>
        <p:txBody>
          <a:bodyPr>
            <a:normAutofit/>
          </a:bodyPr>
          <a:lstStyle/>
          <a:p>
            <a:r>
              <a:rPr lang="en-US" b="1" u="sng" dirty="0" smtClean="0">
                <a:solidFill>
                  <a:schemeClr val="tx1"/>
                </a:solidFill>
                <a:latin typeface="Baskerville Old Face" panose="02020602080505020303" pitchFamily="18" charset="0"/>
              </a:rPr>
              <a:t>TITLE</a:t>
            </a:r>
            <a:r>
              <a:rPr lang="en-US" dirty="0" smtClean="0">
                <a:solidFill>
                  <a:schemeClr val="tx1"/>
                </a:solidFill>
              </a:rPr>
              <a:t>:SMART PARKING </a:t>
            </a:r>
            <a:r>
              <a:rPr lang="en-US" dirty="0" smtClean="0">
                <a:solidFill>
                  <a:schemeClr val="tx1"/>
                </a:solidFill>
              </a:rPr>
              <a:t>AND AUTOMATED </a:t>
            </a:r>
            <a:r>
              <a:rPr lang="en-US" dirty="0" smtClean="0">
                <a:solidFill>
                  <a:schemeClr val="tx1"/>
                </a:solidFill>
              </a:rPr>
              <a:t>VACANCY PREDICTOR. </a:t>
            </a:r>
            <a:endParaRPr lang="en-US" dirty="0">
              <a:solidFill>
                <a:schemeClr val="tx1"/>
              </a:solidFill>
            </a:endParaRPr>
          </a:p>
        </p:txBody>
      </p:sp>
      <p:sp>
        <p:nvSpPr>
          <p:cNvPr id="3" name="Rectangle 2"/>
          <p:cNvSpPr/>
          <p:nvPr/>
        </p:nvSpPr>
        <p:spPr>
          <a:xfrm>
            <a:off x="5562262" y="2192440"/>
            <a:ext cx="1941557" cy="584775"/>
          </a:xfrm>
          <a:prstGeom prst="rect">
            <a:avLst/>
          </a:prstGeom>
        </p:spPr>
        <p:txBody>
          <a:bodyPr wrap="none">
            <a:spAutoFit/>
          </a:bodyPr>
          <a:lstStyle/>
          <a:p>
            <a:r>
              <a:rPr lang="en-US" sz="3200" b="1" u="sng" dirty="0" smtClean="0">
                <a:latin typeface="Baskerville Old Face" panose="02020602080505020303" pitchFamily="18" charset="0"/>
              </a:rPr>
              <a:t>BATCH-2</a:t>
            </a:r>
          </a:p>
        </p:txBody>
      </p:sp>
      <p:sp>
        <p:nvSpPr>
          <p:cNvPr id="4" name="Rectangle 3"/>
          <p:cNvSpPr/>
          <p:nvPr/>
        </p:nvSpPr>
        <p:spPr>
          <a:xfrm>
            <a:off x="0" y="4746985"/>
            <a:ext cx="3253154" cy="1631216"/>
          </a:xfrm>
          <a:prstGeom prst="rect">
            <a:avLst/>
          </a:prstGeom>
        </p:spPr>
        <p:txBody>
          <a:bodyPr wrap="square">
            <a:spAutoFit/>
          </a:bodyPr>
          <a:lstStyle/>
          <a:p>
            <a:r>
              <a:rPr lang="en-US" sz="2000" b="1" dirty="0" smtClean="0">
                <a:latin typeface="Baskerville Old Face" panose="02020602080505020303" pitchFamily="18" charset="0"/>
              </a:rPr>
              <a:t>SUBMITTED BY:(SEC-2)</a:t>
            </a:r>
          </a:p>
          <a:p>
            <a:r>
              <a:rPr lang="en-US" sz="2000" b="1" dirty="0" smtClean="0"/>
              <a:t>MUKESH.M-241FA04522 ARMAN SHAIK-241FA04834</a:t>
            </a:r>
            <a:endParaRPr lang="en-US" sz="2000" b="1" dirty="0"/>
          </a:p>
          <a:p>
            <a:r>
              <a:rPr lang="en-US" sz="2000" b="1" dirty="0"/>
              <a:t>ROHITH.P-241FA04E89</a:t>
            </a:r>
          </a:p>
          <a:p>
            <a:r>
              <a:rPr lang="en-US" sz="2000" b="1" dirty="0"/>
              <a:t>DINESH.S-241FA04F13</a:t>
            </a:r>
          </a:p>
        </p:txBody>
      </p:sp>
      <p:sp>
        <p:nvSpPr>
          <p:cNvPr id="5" name="Rectangle 4"/>
          <p:cNvSpPr/>
          <p:nvPr/>
        </p:nvSpPr>
        <p:spPr>
          <a:xfrm>
            <a:off x="9129967" y="2365381"/>
            <a:ext cx="5627913" cy="3416320"/>
          </a:xfrm>
          <a:prstGeom prst="rect">
            <a:avLst/>
          </a:prstGeom>
        </p:spPr>
        <p:txBody>
          <a:bodyPr wrap="square">
            <a:spAutoFit/>
          </a:bodyPr>
          <a:lstStyle/>
          <a:p>
            <a:endParaRPr lang="en-US" b="1" dirty="0" smtClean="0">
              <a:latin typeface="Baskerville Old Face" panose="02020602080505020303" pitchFamily="18" charset="0"/>
            </a:endParaRPr>
          </a:p>
          <a:p>
            <a:endParaRPr lang="en-US" b="1" dirty="0">
              <a:latin typeface="Baskerville Old Face" panose="02020602080505020303" pitchFamily="18" charset="0"/>
            </a:endParaRPr>
          </a:p>
          <a:p>
            <a:endParaRPr lang="en-US" b="1" dirty="0" smtClean="0">
              <a:latin typeface="Baskerville Old Face" panose="02020602080505020303" pitchFamily="18" charset="0"/>
            </a:endParaRPr>
          </a:p>
          <a:p>
            <a:endParaRPr lang="en-US" b="1" dirty="0">
              <a:latin typeface="Baskerville Old Face" panose="02020602080505020303" pitchFamily="18" charset="0"/>
            </a:endParaRPr>
          </a:p>
          <a:p>
            <a:endParaRPr lang="en-US" b="1" dirty="0" smtClean="0">
              <a:latin typeface="Baskerville Old Face" panose="02020602080505020303" pitchFamily="18" charset="0"/>
            </a:endParaRPr>
          </a:p>
          <a:p>
            <a:endParaRPr lang="en-US" b="1" dirty="0">
              <a:latin typeface="Baskerville Old Face" panose="02020602080505020303" pitchFamily="18" charset="0"/>
            </a:endParaRPr>
          </a:p>
          <a:p>
            <a:endParaRPr lang="en-US" b="1" dirty="0" smtClean="0">
              <a:latin typeface="Baskerville Old Face" panose="02020602080505020303" pitchFamily="18" charset="0"/>
            </a:endParaRPr>
          </a:p>
          <a:p>
            <a:endParaRPr lang="en-US" b="1" dirty="0">
              <a:latin typeface="Baskerville Old Face" panose="02020602080505020303" pitchFamily="18" charset="0"/>
            </a:endParaRPr>
          </a:p>
          <a:p>
            <a:endParaRPr lang="en-US" b="1" dirty="0" smtClean="0">
              <a:latin typeface="Baskerville Old Face" panose="02020602080505020303" pitchFamily="18" charset="0"/>
            </a:endParaRPr>
          </a:p>
          <a:p>
            <a:r>
              <a:rPr lang="en-US" b="1" dirty="0" smtClean="0">
                <a:latin typeface="Baskerville Old Face" panose="02020602080505020303" pitchFamily="18" charset="0"/>
              </a:rPr>
              <a:t> SUBMITTED TO:</a:t>
            </a:r>
          </a:p>
          <a:p>
            <a:r>
              <a:rPr lang="en-US" sz="2000" dirty="0" smtClean="0">
                <a:latin typeface="Baskerville Old Face" panose="02020602080505020303" pitchFamily="18" charset="0"/>
              </a:rPr>
              <a:t>DR.CH.AMARESH</a:t>
            </a:r>
            <a:endParaRPr lang="en-US" sz="2000" dirty="0">
              <a:latin typeface="Baskerville Old Face" panose="02020602080505020303" pitchFamily="18" charset="0"/>
            </a:endParaRPr>
          </a:p>
          <a:p>
            <a:endParaRPr lang="en-US" dirty="0"/>
          </a:p>
        </p:txBody>
      </p:sp>
    </p:spTree>
    <p:extLst>
      <p:ext uri="{BB962C8B-B14F-4D97-AF65-F5344CB8AC3E}">
        <p14:creationId xmlns:p14="http://schemas.microsoft.com/office/powerpoint/2010/main" val="3186576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26525" y="522513"/>
            <a:ext cx="8621485" cy="5509200"/>
          </a:xfrm>
          <a:prstGeom prst="rect">
            <a:avLst/>
          </a:prstGeom>
        </p:spPr>
        <p:txBody>
          <a:bodyPr wrap="square">
            <a:spAutoFit/>
          </a:bodyPr>
          <a:lstStyle/>
          <a:p>
            <a:r>
              <a:rPr lang="en-US" sz="3200" u="sng" dirty="0" smtClean="0">
                <a:latin typeface="Baskerville Old Face" panose="02020602080505020303" pitchFamily="18" charset="0"/>
              </a:rPr>
              <a:t>INTRODUCTION</a:t>
            </a:r>
            <a:r>
              <a:rPr lang="en-US" sz="3200" dirty="0" smtClean="0"/>
              <a:t>:</a:t>
            </a:r>
          </a:p>
          <a:p>
            <a:r>
              <a:rPr lang="en-US" sz="3200" dirty="0" smtClean="0"/>
              <a:t>Smart </a:t>
            </a:r>
            <a:r>
              <a:rPr lang="en-US" sz="3200" dirty="0"/>
              <a:t>parking is an advanced solution designed to reduce traffic congestion and save time by helping drivers quickly find available parking spaces. In busy cities, a large amount of time is wasted searching for parking, which increases fuel consumption and pollution. This system uses modern technologies like </a:t>
            </a:r>
            <a:r>
              <a:rPr lang="en-US" sz="3200" dirty="0" err="1"/>
              <a:t>IoT</a:t>
            </a:r>
            <a:r>
              <a:rPr lang="en-US" sz="3200" dirty="0"/>
              <a:t>, sensors, and machine learning to monitor parking spaces and predict future availability, making parking more efficient and user-friendly.</a:t>
            </a:r>
          </a:p>
        </p:txBody>
      </p:sp>
    </p:spTree>
    <p:extLst>
      <p:ext uri="{BB962C8B-B14F-4D97-AF65-F5344CB8AC3E}">
        <p14:creationId xmlns:p14="http://schemas.microsoft.com/office/powerpoint/2010/main" val="305693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4389" y="326572"/>
            <a:ext cx="8647611" cy="5693866"/>
          </a:xfrm>
          <a:prstGeom prst="rect">
            <a:avLst/>
          </a:prstGeom>
        </p:spPr>
        <p:txBody>
          <a:bodyPr wrap="square">
            <a:spAutoFit/>
          </a:bodyPr>
          <a:lstStyle/>
          <a:p>
            <a:r>
              <a:rPr lang="en-US" sz="2800" dirty="0" smtClean="0"/>
              <a:t>The </a:t>
            </a:r>
            <a:r>
              <a:rPr lang="en-US" sz="2800" dirty="0"/>
              <a:t>Smart Parking and Automated Vacancy Predictor system provides a digital platform where users can view available parking spaces in real time and also get predictions about future availability. The system collects data from sensors or cameras installed in parking areas and processes it using a backend server. Machine learning algorithms analyze historical data to predict when parking slots will become available.</a:t>
            </a:r>
          </a:p>
          <a:p>
            <a:r>
              <a:rPr lang="en-US" sz="2800" b="1" u="sng" dirty="0"/>
              <a:t>Key Points:</a:t>
            </a:r>
          </a:p>
          <a:p>
            <a:pPr>
              <a:buFont typeface="Arial" panose="020B0604020202020204" pitchFamily="34" charset="0"/>
              <a:buChar char="•"/>
            </a:pPr>
            <a:r>
              <a:rPr lang="en-US" sz="2800" dirty="0"/>
              <a:t>Real-time slot monitoring </a:t>
            </a:r>
          </a:p>
          <a:p>
            <a:pPr>
              <a:buFont typeface="Arial" panose="020B0604020202020204" pitchFamily="34" charset="0"/>
              <a:buChar char="•"/>
            </a:pPr>
            <a:r>
              <a:rPr lang="en-US" sz="2800" dirty="0"/>
              <a:t>Data collection using sensors or cameras </a:t>
            </a:r>
          </a:p>
          <a:p>
            <a:pPr>
              <a:buFont typeface="Arial" panose="020B0604020202020204" pitchFamily="34" charset="0"/>
              <a:buChar char="•"/>
            </a:pPr>
            <a:r>
              <a:rPr lang="en-US" sz="2800" dirty="0"/>
              <a:t>Prediction using machine learning </a:t>
            </a:r>
          </a:p>
          <a:p>
            <a:pPr>
              <a:buFont typeface="Arial" panose="020B0604020202020204" pitchFamily="34" charset="0"/>
              <a:buChar char="•"/>
            </a:pPr>
            <a:r>
              <a:rPr lang="en-US" sz="2800" dirty="0"/>
              <a:t>User-friendly web or mobile interface </a:t>
            </a:r>
          </a:p>
        </p:txBody>
      </p:sp>
    </p:spTree>
    <p:extLst>
      <p:ext uri="{BB962C8B-B14F-4D97-AF65-F5344CB8AC3E}">
        <p14:creationId xmlns:p14="http://schemas.microsoft.com/office/powerpoint/2010/main" val="182469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0" y="561703"/>
            <a:ext cx="8595360" cy="6124754"/>
          </a:xfrm>
          <a:prstGeom prst="rect">
            <a:avLst/>
          </a:prstGeom>
        </p:spPr>
        <p:txBody>
          <a:bodyPr wrap="square">
            <a:spAutoFit/>
          </a:bodyPr>
          <a:lstStyle/>
          <a:p>
            <a:r>
              <a:rPr lang="en-US" sz="2800" u="sng" dirty="0" smtClean="0">
                <a:latin typeface="Baskerville Old Face" panose="02020602080505020303" pitchFamily="18" charset="0"/>
              </a:rPr>
              <a:t>TECHNOLOGIES USED</a:t>
            </a:r>
            <a:r>
              <a:rPr lang="en-US" dirty="0" smtClean="0"/>
              <a:t>:</a:t>
            </a:r>
          </a:p>
          <a:p>
            <a:r>
              <a:rPr lang="en-US" sz="2800" dirty="0" smtClean="0"/>
              <a:t>This </a:t>
            </a:r>
            <a:r>
              <a:rPr lang="en-US" sz="2800" dirty="0"/>
              <a:t>project uses a combination of hardware and software technologies. Frontend technologies like HTML, CSS, and JavaScript are used to design the user interface. Backend technologies such as Node.js or Python handle server-side operations. Databases like MySQL or MongoDB store parking data. Machine learning libraries like </a:t>
            </a:r>
            <a:r>
              <a:rPr lang="en-US" sz="2800" dirty="0" err="1"/>
              <a:t>Scikit</a:t>
            </a:r>
            <a:r>
              <a:rPr lang="en-US" sz="2800" dirty="0"/>
              <a:t>-learn or </a:t>
            </a:r>
            <a:r>
              <a:rPr lang="en-US" sz="2800" dirty="0" err="1"/>
              <a:t>TensorFlow</a:t>
            </a:r>
            <a:r>
              <a:rPr lang="en-US" sz="2800" dirty="0"/>
              <a:t> are used for prediction.</a:t>
            </a:r>
          </a:p>
          <a:p>
            <a:r>
              <a:rPr lang="en-US" sz="2800" b="1" u="sng" dirty="0"/>
              <a:t>Key Points</a:t>
            </a:r>
            <a:r>
              <a:rPr lang="en-US" sz="2800" b="1" dirty="0"/>
              <a:t>:</a:t>
            </a:r>
          </a:p>
          <a:p>
            <a:pPr>
              <a:buFont typeface="Arial" panose="020B0604020202020204" pitchFamily="34" charset="0"/>
              <a:buChar char="•"/>
            </a:pPr>
            <a:r>
              <a:rPr lang="en-US" sz="2800" dirty="0"/>
              <a:t>Frontend: HTML, CSS, JavaScript </a:t>
            </a:r>
          </a:p>
          <a:p>
            <a:pPr>
              <a:buFont typeface="Arial" panose="020B0604020202020204" pitchFamily="34" charset="0"/>
              <a:buChar char="•"/>
            </a:pPr>
            <a:r>
              <a:rPr lang="en-US" sz="2800" dirty="0"/>
              <a:t>Backend: Node.js / Python </a:t>
            </a:r>
          </a:p>
          <a:p>
            <a:pPr>
              <a:buFont typeface="Arial" panose="020B0604020202020204" pitchFamily="34" charset="0"/>
              <a:buChar char="•"/>
            </a:pPr>
            <a:r>
              <a:rPr lang="en-US" sz="2800" dirty="0"/>
              <a:t>Database: MySQL / MongoDB </a:t>
            </a:r>
          </a:p>
          <a:p>
            <a:pPr>
              <a:buFont typeface="Arial" panose="020B0604020202020204" pitchFamily="34" charset="0"/>
              <a:buChar char="•"/>
            </a:pPr>
            <a:r>
              <a:rPr lang="en-US" sz="2800" dirty="0"/>
              <a:t>ML Tools: </a:t>
            </a:r>
            <a:r>
              <a:rPr lang="en-US" sz="2800" dirty="0" err="1"/>
              <a:t>Scikit</a:t>
            </a:r>
            <a:r>
              <a:rPr lang="en-US" sz="2800" dirty="0"/>
              <a:t>-learn, </a:t>
            </a:r>
            <a:r>
              <a:rPr lang="en-US" sz="2800" dirty="0" err="1"/>
              <a:t>TensorFlow</a:t>
            </a:r>
            <a:r>
              <a:rPr lang="en-US" sz="2800" dirty="0"/>
              <a:t> </a:t>
            </a:r>
          </a:p>
          <a:p>
            <a:pPr>
              <a:buFont typeface="Arial" panose="020B0604020202020204" pitchFamily="34" charset="0"/>
              <a:buChar char="•"/>
            </a:pPr>
            <a:r>
              <a:rPr lang="en-US" sz="2800" dirty="0" err="1"/>
              <a:t>IoT</a:t>
            </a:r>
            <a:r>
              <a:rPr lang="en-US" sz="2800" dirty="0"/>
              <a:t>: Sensors, Arduino (optional)</a:t>
            </a:r>
          </a:p>
        </p:txBody>
      </p:sp>
    </p:spTree>
    <p:extLst>
      <p:ext uri="{BB962C8B-B14F-4D97-AF65-F5344CB8AC3E}">
        <p14:creationId xmlns:p14="http://schemas.microsoft.com/office/powerpoint/2010/main" val="2592928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10594" y="785341"/>
            <a:ext cx="6096000" cy="369332"/>
          </a:xfrm>
          <a:prstGeom prst="rect">
            <a:avLst/>
          </a:prstGeom>
        </p:spPr>
        <p:txBody>
          <a:bodyPr>
            <a:spAutoFit/>
          </a:bodyPr>
          <a:lstStyle/>
          <a:p>
            <a:endParaRPr lang="en-US" dirty="0"/>
          </a:p>
        </p:txBody>
      </p:sp>
      <p:sp>
        <p:nvSpPr>
          <p:cNvPr id="3" name="Rectangle 2"/>
          <p:cNvSpPr/>
          <p:nvPr/>
        </p:nvSpPr>
        <p:spPr>
          <a:xfrm>
            <a:off x="3719011" y="27058"/>
            <a:ext cx="6096000" cy="6063198"/>
          </a:xfrm>
          <a:prstGeom prst="rect">
            <a:avLst/>
          </a:prstGeom>
        </p:spPr>
        <p:txBody>
          <a:bodyPr>
            <a:spAutoFit/>
          </a:bodyPr>
          <a:lstStyle/>
          <a:p>
            <a:r>
              <a:rPr lang="en-US" sz="2800" b="1" u="sng" dirty="0" smtClean="0">
                <a:latin typeface="Baskerville Old Face" panose="02020602080505020303" pitchFamily="18" charset="0"/>
              </a:rPr>
              <a:t>SOURCE CODE</a:t>
            </a:r>
            <a:r>
              <a:rPr lang="en-US" dirty="0" smtClean="0">
                <a:latin typeface="Baskerville Old Face" panose="02020602080505020303" pitchFamily="18" charset="0"/>
              </a:rPr>
              <a:t>:</a:t>
            </a:r>
          </a:p>
          <a:p>
            <a:endParaRPr lang="en-US" dirty="0"/>
          </a:p>
          <a:p>
            <a:r>
              <a:rPr lang="en-US" dirty="0" smtClean="0"/>
              <a:t>&lt;!</a:t>
            </a:r>
            <a:r>
              <a:rPr lang="en-US" dirty="0"/>
              <a: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&lt;meta charset="UTF-8"&gt;</a:t>
            </a:r>
          </a:p>
          <a:p>
            <a:r>
              <a:rPr lang="en-US" dirty="0"/>
              <a:t>&lt;meta name="viewport" content="width=device-width, initial-scale=1.0"&gt;</a:t>
            </a:r>
          </a:p>
          <a:p>
            <a:r>
              <a:rPr lang="en-US" dirty="0"/>
              <a:t>&lt;title&gt;Smart Parking System&lt;/title</a:t>
            </a:r>
            <a:r>
              <a:rPr lang="en-US" dirty="0" smtClean="0"/>
              <a:t>&gt;</a:t>
            </a:r>
            <a:endParaRPr lang="en-US" dirty="0"/>
          </a:p>
          <a:p>
            <a:r>
              <a:rPr lang="en-US" dirty="0"/>
              <a:t>&lt;style&gt;</a:t>
            </a:r>
          </a:p>
          <a:p>
            <a:r>
              <a:rPr lang="en-US" dirty="0"/>
              <a:t>body {</a:t>
            </a:r>
          </a:p>
          <a:p>
            <a:r>
              <a:rPr lang="en-US" dirty="0"/>
              <a:t>  margin: 0;</a:t>
            </a:r>
          </a:p>
          <a:p>
            <a:r>
              <a:rPr lang="en-US" dirty="0"/>
              <a:t>  font-family: Arial;</a:t>
            </a:r>
          </a:p>
          <a:p>
            <a:r>
              <a:rPr lang="en-US" dirty="0"/>
              <a:t>  background: #f4f7fb;</a:t>
            </a:r>
          </a:p>
          <a:p>
            <a:r>
              <a:rPr lang="en-US" dirty="0" smtClean="0"/>
              <a:t>}</a:t>
            </a:r>
            <a:endParaRPr lang="en-US" dirty="0"/>
          </a:p>
          <a:p>
            <a:r>
              <a:rPr lang="en-US" dirty="0"/>
              <a:t>header {</a:t>
            </a:r>
          </a:p>
          <a:p>
            <a:r>
              <a:rPr lang="en-US" dirty="0"/>
              <a:t>  background: #1e293b;</a:t>
            </a:r>
          </a:p>
          <a:p>
            <a:r>
              <a:rPr lang="en-US" dirty="0"/>
              <a:t>  color: white;</a:t>
            </a:r>
          </a:p>
          <a:p>
            <a:r>
              <a:rPr lang="en-US" dirty="0"/>
              <a:t>  padding: 15px;</a:t>
            </a:r>
          </a:p>
          <a:p>
            <a:r>
              <a:rPr lang="en-US" dirty="0"/>
              <a:t>  text-align: center;</a:t>
            </a:r>
          </a:p>
          <a:p>
            <a:r>
              <a:rPr lang="en-US" dirty="0" smtClean="0"/>
              <a:t>}</a:t>
            </a:r>
            <a:endParaRPr lang="en-US" dirty="0"/>
          </a:p>
        </p:txBody>
      </p:sp>
    </p:spTree>
    <p:extLst>
      <p:ext uri="{BB962C8B-B14F-4D97-AF65-F5344CB8AC3E}">
        <p14:creationId xmlns:p14="http://schemas.microsoft.com/office/powerpoint/2010/main" val="2841375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38650" y="117693"/>
            <a:ext cx="5581650" cy="6740307"/>
          </a:xfrm>
          <a:prstGeom prst="rect">
            <a:avLst/>
          </a:prstGeom>
        </p:spPr>
        <p:txBody>
          <a:bodyPr wrap="square">
            <a:spAutoFit/>
          </a:bodyPr>
          <a:lstStyle/>
          <a:p>
            <a:r>
              <a:rPr lang="en-US" dirty="0" err="1"/>
              <a:t>nav</a:t>
            </a:r>
            <a:r>
              <a:rPr lang="en-US" dirty="0"/>
              <a:t> {</a:t>
            </a:r>
          </a:p>
          <a:p>
            <a:r>
              <a:rPr lang="en-US" dirty="0"/>
              <a:t>  background: #334155;</a:t>
            </a:r>
          </a:p>
          <a:p>
            <a:r>
              <a:rPr lang="en-US" dirty="0"/>
              <a:t>  display: flex;</a:t>
            </a:r>
          </a:p>
          <a:p>
            <a:r>
              <a:rPr lang="en-US" dirty="0"/>
              <a:t>  justify-content: center;</a:t>
            </a:r>
          </a:p>
          <a:p>
            <a:r>
              <a:rPr lang="en-US" dirty="0"/>
              <a:t>  gap: 10px;</a:t>
            </a:r>
          </a:p>
          <a:p>
            <a:r>
              <a:rPr lang="en-US" dirty="0"/>
              <a:t>  padding: 10px;</a:t>
            </a:r>
          </a:p>
          <a:p>
            <a:r>
              <a:rPr lang="en-US" dirty="0"/>
              <a:t>}</a:t>
            </a:r>
          </a:p>
          <a:p>
            <a:r>
              <a:rPr lang="en-US" dirty="0" err="1"/>
              <a:t>nav</a:t>
            </a:r>
            <a:r>
              <a:rPr lang="en-US" dirty="0"/>
              <a:t> button {</a:t>
            </a:r>
          </a:p>
          <a:p>
            <a:r>
              <a:rPr lang="en-US" dirty="0"/>
              <a:t>  background: #2563eb;</a:t>
            </a:r>
          </a:p>
          <a:p>
            <a:r>
              <a:rPr lang="en-US" dirty="0"/>
              <a:t>  color: white;</a:t>
            </a:r>
          </a:p>
          <a:p>
            <a:r>
              <a:rPr lang="en-US" dirty="0"/>
              <a:t>  padding: 10px 15px;</a:t>
            </a:r>
          </a:p>
          <a:p>
            <a:r>
              <a:rPr lang="en-US" dirty="0"/>
              <a:t>  border: none;</a:t>
            </a:r>
          </a:p>
          <a:p>
            <a:r>
              <a:rPr lang="en-US" dirty="0"/>
              <a:t>  cursor: pointer;</a:t>
            </a:r>
          </a:p>
          <a:p>
            <a:r>
              <a:rPr lang="en-US" dirty="0"/>
              <a:t>  border-radius: 5px;</a:t>
            </a:r>
          </a:p>
          <a:p>
            <a:r>
              <a:rPr lang="en-US" dirty="0"/>
              <a:t>}</a:t>
            </a:r>
          </a:p>
          <a:p>
            <a:r>
              <a:rPr lang="en-US" dirty="0"/>
              <a:t>.container {</a:t>
            </a:r>
          </a:p>
          <a:p>
            <a:r>
              <a:rPr lang="en-US" dirty="0"/>
              <a:t>  padding: 20px;</a:t>
            </a:r>
          </a:p>
          <a:p>
            <a:r>
              <a:rPr lang="en-US" dirty="0"/>
              <a:t>}</a:t>
            </a:r>
          </a:p>
          <a:p>
            <a:r>
              <a:rPr lang="en-US" dirty="0"/>
              <a:t>.page {</a:t>
            </a:r>
          </a:p>
          <a:p>
            <a:r>
              <a:rPr lang="en-US" dirty="0"/>
              <a:t>  display: none;</a:t>
            </a:r>
          </a:p>
          <a:p>
            <a:r>
              <a:rPr lang="en-US" dirty="0"/>
              <a:t>}</a:t>
            </a:r>
          </a:p>
          <a:p>
            <a:r>
              <a:rPr lang="en-US" dirty="0"/>
              <a:t>.</a:t>
            </a:r>
            <a:r>
              <a:rPr lang="en-US" dirty="0" err="1"/>
              <a:t>page.active</a:t>
            </a:r>
            <a:r>
              <a:rPr lang="en-US" dirty="0"/>
              <a:t> {</a:t>
            </a:r>
          </a:p>
          <a:p>
            <a:r>
              <a:rPr lang="en-US" dirty="0"/>
              <a:t>  display: block;</a:t>
            </a:r>
          </a:p>
          <a:p>
            <a:r>
              <a:rPr lang="en-US" dirty="0" smtClean="0"/>
              <a:t>}</a:t>
            </a:r>
            <a:endParaRPr lang="en-US" dirty="0"/>
          </a:p>
        </p:txBody>
      </p:sp>
    </p:spTree>
    <p:extLst>
      <p:ext uri="{BB962C8B-B14F-4D97-AF65-F5344CB8AC3E}">
        <p14:creationId xmlns:p14="http://schemas.microsoft.com/office/powerpoint/2010/main" val="42911306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1139" y="469968"/>
            <a:ext cx="6096000" cy="5262979"/>
          </a:xfrm>
          <a:prstGeom prst="rect">
            <a:avLst/>
          </a:prstGeom>
        </p:spPr>
        <p:txBody>
          <a:bodyPr>
            <a:spAutoFit/>
          </a:bodyPr>
          <a:lstStyle/>
          <a:p>
            <a:r>
              <a:rPr lang="en-US" dirty="0"/>
              <a:t>.</a:t>
            </a:r>
            <a:r>
              <a:rPr lang="en-US" sz="2400" dirty="0"/>
              <a:t>cards {</a:t>
            </a:r>
          </a:p>
          <a:p>
            <a:r>
              <a:rPr lang="en-US" sz="2400" dirty="0"/>
              <a:t>  display: flex;</a:t>
            </a:r>
          </a:p>
          <a:p>
            <a:r>
              <a:rPr lang="en-US" sz="2400" dirty="0"/>
              <a:t>  gap: 20px;</a:t>
            </a:r>
          </a:p>
          <a:p>
            <a:r>
              <a:rPr lang="en-US" sz="2400" dirty="0"/>
              <a:t>  flex-wrap: wrap;</a:t>
            </a:r>
          </a:p>
          <a:p>
            <a:r>
              <a:rPr lang="en-US" sz="2400" dirty="0"/>
              <a:t>}</a:t>
            </a:r>
          </a:p>
          <a:p>
            <a:endParaRPr lang="en-US" sz="2400" dirty="0"/>
          </a:p>
          <a:p>
            <a:r>
              <a:rPr lang="en-US" sz="2400" dirty="0"/>
              <a:t>.card {</a:t>
            </a:r>
          </a:p>
          <a:p>
            <a:r>
              <a:rPr lang="en-US" sz="2400" dirty="0"/>
              <a:t>  background: white;</a:t>
            </a:r>
          </a:p>
          <a:p>
            <a:r>
              <a:rPr lang="en-US" sz="2400" dirty="0"/>
              <a:t>  padding: 20px;</a:t>
            </a:r>
          </a:p>
          <a:p>
            <a:r>
              <a:rPr lang="en-US" sz="2400" dirty="0"/>
              <a:t>  border-radius: 10px;</a:t>
            </a:r>
          </a:p>
          <a:p>
            <a:r>
              <a:rPr lang="en-US" sz="2400" dirty="0"/>
              <a:t>  flex: 1 1 250px;</a:t>
            </a:r>
          </a:p>
          <a:p>
            <a:r>
              <a:rPr lang="en-US" sz="2400" dirty="0"/>
              <a:t>  text-align: center;</a:t>
            </a:r>
          </a:p>
          <a:p>
            <a:r>
              <a:rPr lang="en-US" sz="2400" dirty="0"/>
              <a:t>  box-shadow: 0 4px 10px </a:t>
            </a:r>
            <a:r>
              <a:rPr lang="en-US" sz="2400" dirty="0" err="1"/>
              <a:t>rgba</a:t>
            </a:r>
            <a:r>
              <a:rPr lang="en-US" sz="2400" dirty="0"/>
              <a:t>(0,0,0,0.1);</a:t>
            </a:r>
          </a:p>
          <a:p>
            <a:r>
              <a:rPr lang="en-US" sz="2400" dirty="0"/>
              <a:t>}</a:t>
            </a:r>
          </a:p>
        </p:txBody>
      </p:sp>
    </p:spTree>
    <p:extLst>
      <p:ext uri="{BB962C8B-B14F-4D97-AF65-F5344CB8AC3E}">
        <p14:creationId xmlns:p14="http://schemas.microsoft.com/office/powerpoint/2010/main" val="23344212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67497" y="130629"/>
            <a:ext cx="5329646" cy="6524863"/>
          </a:xfrm>
          <a:prstGeom prst="rect">
            <a:avLst/>
          </a:prstGeom>
        </p:spPr>
        <p:txBody>
          <a:bodyPr wrap="square">
            <a:spAutoFit/>
          </a:bodyPr>
          <a:lstStyle/>
          <a:p>
            <a:r>
              <a:rPr lang="en-US" dirty="0"/>
              <a:t>.</a:t>
            </a:r>
            <a:r>
              <a:rPr lang="en-US" sz="1600" dirty="0"/>
              <a:t>grid {</a:t>
            </a:r>
          </a:p>
          <a:p>
            <a:r>
              <a:rPr lang="en-US" sz="1600" dirty="0"/>
              <a:t>  display: grid;</a:t>
            </a:r>
          </a:p>
          <a:p>
            <a:r>
              <a:rPr lang="en-US" sz="1600" dirty="0"/>
              <a:t>  grid-template-columns: repeat(auto-fill, </a:t>
            </a:r>
            <a:r>
              <a:rPr lang="en-US" sz="1600" dirty="0" err="1"/>
              <a:t>minmax</a:t>
            </a:r>
            <a:r>
              <a:rPr lang="en-US" sz="1600" dirty="0"/>
              <a:t>(80px, 1fr));</a:t>
            </a:r>
          </a:p>
          <a:p>
            <a:r>
              <a:rPr lang="en-US" sz="1600" dirty="0"/>
              <a:t>  gap: 10px;</a:t>
            </a:r>
          </a:p>
          <a:p>
            <a:r>
              <a:rPr lang="en-US" sz="1600" dirty="0"/>
              <a:t>  margin-top: 20px;</a:t>
            </a:r>
          </a:p>
          <a:p>
            <a:r>
              <a:rPr lang="en-US" sz="1600" dirty="0" smtClean="0"/>
              <a:t>}</a:t>
            </a:r>
            <a:endParaRPr lang="en-US" sz="1600" dirty="0"/>
          </a:p>
          <a:p>
            <a:r>
              <a:rPr lang="en-US" sz="1600" dirty="0"/>
              <a:t>.slot {</a:t>
            </a:r>
          </a:p>
          <a:p>
            <a:r>
              <a:rPr lang="en-US" sz="1600" dirty="0"/>
              <a:t>  padding: 15px;</a:t>
            </a:r>
          </a:p>
          <a:p>
            <a:r>
              <a:rPr lang="en-US" sz="1600" dirty="0"/>
              <a:t>  border-radius: 8px;</a:t>
            </a:r>
          </a:p>
          <a:p>
            <a:r>
              <a:rPr lang="en-US" sz="1600" dirty="0"/>
              <a:t>  text-align: center;</a:t>
            </a:r>
          </a:p>
          <a:p>
            <a:r>
              <a:rPr lang="en-US" sz="1600" dirty="0"/>
              <a:t>  cursor: pointer;</a:t>
            </a:r>
          </a:p>
          <a:p>
            <a:r>
              <a:rPr lang="en-US" sz="1600" dirty="0" smtClean="0"/>
              <a:t>}</a:t>
            </a:r>
            <a:endParaRPr lang="en-US" sz="1600" dirty="0"/>
          </a:p>
          <a:p>
            <a:r>
              <a:rPr lang="en-US" sz="1600" dirty="0"/>
              <a:t>.available {</a:t>
            </a:r>
          </a:p>
          <a:p>
            <a:r>
              <a:rPr lang="en-US" sz="1600" dirty="0"/>
              <a:t>  background: #22c55e;</a:t>
            </a:r>
          </a:p>
          <a:p>
            <a:r>
              <a:rPr lang="en-US" sz="1600" dirty="0"/>
              <a:t>  color: white;</a:t>
            </a:r>
          </a:p>
          <a:p>
            <a:r>
              <a:rPr lang="en-US" sz="1600" dirty="0" smtClean="0"/>
              <a:t>}</a:t>
            </a:r>
            <a:endParaRPr lang="en-US" sz="1600" dirty="0"/>
          </a:p>
          <a:p>
            <a:r>
              <a:rPr lang="en-US" sz="1600" dirty="0"/>
              <a:t>.occupied {</a:t>
            </a:r>
          </a:p>
          <a:p>
            <a:r>
              <a:rPr lang="en-US" sz="1600" dirty="0"/>
              <a:t>  background: #ef4444;</a:t>
            </a:r>
          </a:p>
          <a:p>
            <a:r>
              <a:rPr lang="en-US" sz="1600" dirty="0"/>
              <a:t>  color: white;</a:t>
            </a:r>
          </a:p>
          <a:p>
            <a:r>
              <a:rPr lang="en-US" sz="1600" dirty="0"/>
              <a:t>} function update() {</a:t>
            </a:r>
          </a:p>
          <a:p>
            <a:r>
              <a:rPr lang="en-US" sz="1600" dirty="0"/>
              <a:t>  </a:t>
            </a:r>
            <a:r>
              <a:rPr lang="en-US" sz="1600" dirty="0" err="1"/>
              <a:t>renderGrid</a:t>
            </a:r>
            <a:r>
              <a:rPr lang="en-US" sz="1600" dirty="0"/>
              <a:t>();</a:t>
            </a:r>
          </a:p>
          <a:p>
            <a:r>
              <a:rPr lang="en-US" sz="1600" dirty="0" smtClean="0"/>
              <a:t>}</a:t>
            </a:r>
            <a:endParaRPr lang="en-US" sz="1600" dirty="0"/>
          </a:p>
          <a:p>
            <a:r>
              <a:rPr lang="en-US" sz="1600" dirty="0" err="1"/>
              <a:t>renderGrid</a:t>
            </a:r>
            <a:r>
              <a:rPr lang="en-US" sz="1600" dirty="0"/>
              <a:t>();</a:t>
            </a:r>
          </a:p>
          <a:p>
            <a:r>
              <a:rPr lang="en-US" sz="1600" dirty="0"/>
              <a:t>&lt;/script&gt;</a:t>
            </a:r>
          </a:p>
          <a:p>
            <a:r>
              <a:rPr lang="en-US" sz="1600" dirty="0" smtClean="0"/>
              <a:t>&lt;/</a:t>
            </a:r>
            <a:r>
              <a:rPr lang="en-US" sz="1600" dirty="0"/>
              <a:t>body&gt;</a:t>
            </a:r>
          </a:p>
          <a:p>
            <a:r>
              <a:rPr lang="en-US" sz="1600" dirty="0"/>
              <a:t>&lt;/html&gt;</a:t>
            </a:r>
          </a:p>
        </p:txBody>
      </p:sp>
    </p:spTree>
    <p:extLst>
      <p:ext uri="{BB962C8B-B14F-4D97-AF65-F5344CB8AC3E}">
        <p14:creationId xmlns:p14="http://schemas.microsoft.com/office/powerpoint/2010/main" val="31099743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3988"/>
            <a:ext cx="12192000" cy="6216523"/>
          </a:xfrm>
          <a:prstGeom prst="rect">
            <a:avLst/>
          </a:prstGeom>
        </p:spPr>
      </p:pic>
      <p:sp>
        <p:nvSpPr>
          <p:cNvPr id="4" name="Rectangle 3"/>
          <p:cNvSpPr/>
          <p:nvPr/>
        </p:nvSpPr>
        <p:spPr>
          <a:xfrm>
            <a:off x="199267" y="0"/>
            <a:ext cx="4871723" cy="523220"/>
          </a:xfrm>
          <a:prstGeom prst="rect">
            <a:avLst/>
          </a:prstGeom>
        </p:spPr>
        <p:txBody>
          <a:bodyPr wrap="square">
            <a:spAutoFit/>
          </a:bodyPr>
          <a:lstStyle/>
          <a:p>
            <a:r>
              <a:rPr lang="en-US" sz="2800" b="1" u="sng" dirty="0" smtClean="0">
                <a:latin typeface="Baskerville Old Face" panose="02020602080505020303" pitchFamily="18" charset="0"/>
              </a:rPr>
              <a:t>OUTPUT</a:t>
            </a:r>
            <a:r>
              <a:rPr lang="en-US" dirty="0"/>
              <a:t>:</a:t>
            </a:r>
          </a:p>
        </p:txBody>
      </p:sp>
    </p:spTree>
    <p:extLst>
      <p:ext uri="{BB962C8B-B14F-4D97-AF65-F5344CB8AC3E}">
        <p14:creationId xmlns:p14="http://schemas.microsoft.com/office/powerpoint/2010/main" val="15643584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629789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91173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spTree>
    <p:extLst>
      <p:ext uri="{BB962C8B-B14F-4D97-AF65-F5344CB8AC3E}">
        <p14:creationId xmlns:p14="http://schemas.microsoft.com/office/powerpoint/2010/main" val="765749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Stock Photos, Images and Backgrounds for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013528"/>
      </p:ext>
    </p:extLst>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28C3E1-D10B-4426-B05E-8E1CAFF03C24}">
  <ds:schemaRefs>
    <ds:schemaRef ds:uri="http://schemas.microsoft.com/sharepoint/v3/contenttype/forms"/>
  </ds:schemaRefs>
</ds:datastoreItem>
</file>

<file path=customXml/itemProps2.xml><?xml version="1.0" encoding="utf-8"?>
<ds:datastoreItem xmlns:ds="http://schemas.openxmlformats.org/officeDocument/2006/customXml" ds:itemID="{079290C9-6505-4B77-B628-A44276CB9D85}">
  <ds:schemaRefs>
    <ds:schemaRef ds:uri="http://schemas.microsoft.com/office/2006/metadata/properties"/>
    <ds:schemaRef ds:uri="http://purl.org/dc/elements/1.1/"/>
    <ds:schemaRef ds:uri="http://schemas.microsoft.com/office/2006/documentManagement/types"/>
    <ds:schemaRef ds:uri="http://purl.org/dc/terms/"/>
    <ds:schemaRef ds:uri="71af3243-3dd4-4a8d-8c0d-dd76da1f02a5"/>
    <ds:schemaRef ds:uri="16c05727-aa75-4e4a-9b5f-8a80a1165891"/>
    <ds:schemaRef ds:uri="http://www.w3.org/XML/1998/namespace"/>
    <ds:schemaRef ds:uri="http://purl.org/dc/dcmityp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7B8899B-5794-42FB-9137-8220A73767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Feathered design</Template>
  <TotalTime>0</TotalTime>
  <Words>622</Words>
  <Application>Microsoft Office PowerPoint</Application>
  <PresentationFormat>Widescreen</PresentationFormat>
  <Paragraphs>118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Baskerville Old Face</vt:lpstr>
      <vt:lpstr>Calibri</vt:lpstr>
      <vt:lpstr>Century Schoolbook</vt:lpstr>
      <vt:lpstr>Corbel</vt:lpstr>
      <vt:lpstr>Feathered</vt:lpstr>
      <vt:lpstr>TITLE:SMART PARKING AND AUTOMATED VACANCY PREDICTOR.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2026-04-20T03:27:01Z</dcterms:created>
  <dcterms:modified xsi:type="dcterms:W3CDTF">2026-04-24T03:21:57Z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